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Khoảng 45 giây. Nêu rõ không huấn luyện mô hình mới và không dùng dữ liệu mô phỏng làm kết quả nghiên cứu.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Khoảng 60 giây. Đây là đánh giá retrospective và vũ trụ khóa 06/2026; không khẳng định thành phần lịch sử 2025.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Khoảng 75 giây. Chỉ ra ba nhóm: danh mục; giá/lịch; mô hình/dự báo. Industry là quan hệ tùy chọn; IndexMembership giải N–N.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Khoảng 60 giây. Đây là phụ thuộc bộ phận thật đã loại bỏ; không lưu lặp ModelName, PriceUnit hay ActualLabel trong Prediction.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SQL được đối chiếu độc lập bằng Python. Chỉ mô tả tập con; không kết luận ưu thế thống kê hoặc hiệu quả đầu tư.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Dùng docs/DEMO_GUIDE.md. Nếu máy trình bày không có nguồn thật, bản demo vẫn độc lập. Không trình bày chỉ tiêu mô phỏng như kết quả nghiên cứu.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Khoảng 45 giây, rồi trả lời câu hỏi. Hướng mở rộng: metadata có nguồn, lịch sử thành phần và kiểm thử Express.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>
                <a:solidFill>
                  <a:srgbClr val="000000"/>
                </a:solidFill>
              </a:rPr>
              <a:t>MarketLab VN30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>
                <a:solidFill>
                  <a:srgbClr val="000000"/>
                </a:solidFill>
              </a:rPr>
              <a:t>Bài tập lớn Hệ quản trị cơ sở dữ liệu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>
                <a:solidFill>
                  <a:srgbClr val="000000"/>
                </a:solidFill>
              </a:rPr>
              <a:t>27/10/2026 · Thuyết trình 13–14 phút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>
                <a:solidFill>
                  <a:srgbClr val="000000"/>
                </a:solidFill>
              </a:rPr>
              <a:t>Bài toán và mục tiêu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>
                <a:solidFill>
                  <a:srgbClr val="000000"/>
                </a:solidFill>
              </a:rPr>
              <a:t>Quản lý giá, lịch phiên và dự báo đã có trong CSDL quan hệ.</a:t>
            </a:r>
          </a:p>
          <a:p>
            <a:pPr lvl="0"/>
            <a:r>
              <a:rPr>
                <a:solidFill>
                  <a:srgbClr val="000000"/>
                </a:solidFill>
              </a:rPr>
              <a:t>Đánh giá khi đã có dữ liệu thực tế ở ngày mục tiêu.</a:t>
            </a:r>
          </a:p>
          <a:p>
            <a:pPr lvl="0"/>
            <a:r>
              <a:rPr>
                <a:solidFill>
                  <a:srgbClr val="000000"/>
                </a:solidFill>
              </a:rPr>
              <a:t>Trọng tâm: 3NF, khóa, SQL và transaction.</a:t>
            </a:r>
          </a:p>
          <a:p>
            <a:pPr lvl="0"/>
            <a:r>
              <a:rPr>
                <a:solidFill>
                  <a:srgbClr val="000000"/>
                </a:solidFill>
              </a:rPr>
              <a:t>Demo độc lập bằng dữ liệu mô phỏng có nhãn.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>
                <a:solidFill>
                  <a:srgbClr val="000000"/>
                </a:solidFill>
              </a:rPr>
              <a:t>Phạm vi và dữ liệu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>
                <a:solidFill>
                  <a:srgbClr val="000000"/>
                </a:solidFill>
              </a:rPr>
              <a:t>Nguồn: KBS/Vnstock; dự báo Stage 1 cùng lineage.</a:t>
            </a:r>
          </a:p>
          <a:p>
            <a:pPr lvl="0"/>
            <a:r>
              <a:rPr>
                <a:solidFill>
                  <a:srgbClr val="000000"/>
                </a:solidFill>
              </a:rPr>
              <a:t>Tập con: 30 mã, 40 phiên, 1.200 giá, 1.200 dự báo.</a:t>
            </a:r>
          </a:p>
          <a:p>
            <a:pPr lvl="0"/>
            <a:r>
              <a:rPr>
                <a:solidFill>
                  <a:srgbClr val="000000"/>
                </a:solidFill>
              </a:rPr>
              <a:t>20 ngày gốc 03–30/09/2025; mục tiêu sau 20 phiên.</a:t>
            </a:r>
          </a:p>
          <a:p>
            <a:pPr lvl="0"/>
            <a:r>
              <a:rPr>
                <a:solidFill>
                  <a:srgbClr val="000000"/>
                </a:solidFill>
              </a:rPr>
              <a:t>35/35 tệp nguồn không đổi; 30/30 giá khớp manifest.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>
                <a:solidFill>
                  <a:srgbClr val="000000"/>
                </a:solidFill>
              </a:rPr>
              <a:t>Chức năng hệ thống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>
                <a:solidFill>
                  <a:srgbClr val="000000"/>
                </a:solidFill>
              </a:rPr>
              <a:t>Danh mục thị trường, ngành, mã và chỉ số.</a:t>
            </a:r>
          </a:p>
          <a:p>
            <a:pPr lvl="0"/>
            <a:r>
              <a:rPr>
                <a:solidFill>
                  <a:srgbClr val="000000"/>
                </a:solidFill>
              </a:rPr>
              <a:t>Lịch phiên và OHLCV theo dataset.</a:t>
            </a:r>
          </a:p>
          <a:p>
            <a:pPr lvl="0"/>
            <a:r>
              <a:rPr>
                <a:solidFill>
                  <a:srgbClr val="000000"/>
                </a:solidFill>
              </a:rPr>
              <a:t>Mô hình, lần chạy, ngày gốc và dự báo xác suất.</a:t>
            </a:r>
          </a:p>
          <a:p>
            <a:pPr lvl="0"/>
            <a:r>
              <a:rPr>
                <a:solidFill>
                  <a:srgbClr val="000000"/>
                </a:solidFill>
              </a:rPr>
              <a:t>Tra cứu, thống kê và so sánh trên cùng quan sát.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>
                <a:solidFill>
                  <a:srgbClr val="000000"/>
                </a:solidFill>
              </a:rPr>
              <a:t>ERD: 13 bảng liên kết</a:t>
            </a:r>
          </a:p>
        </p:txBody>
      </p:sp>
      <p:pic>
        <p:nvPicPr>
          <p:cNvPr id="3" name="Picture 1" descr="../docs/diagrams/marketlab_erd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409700" y="1193800"/>
            <a:ext cx="6324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>
            <a:spLocks noGrp="1"/>
          </p:cNvSpPr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marL="0" lvl="0" indent="0" algn="ctr">
              <a:buNone/>
            </a:pPr>
            <a:r>
              <a:rPr>
                <a:solidFill>
                  <a:srgbClr val="000000"/>
                </a:solidFill>
              </a:rPr>
              <a:t>ERD vật lý — xem bản PDF/SVG riêng để đọc cột.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>
                <a:solidFill>
                  <a:srgbClr val="000000"/>
                </a:solidFill>
              </a:rPr>
              <a:t>Vì sao tách ForecastOrigin?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>
                <a:solidFill>
                  <a:srgbClr val="000000"/>
                </a:solidFill>
              </a:rPr>
              <a:t>Prediction có khóa: run + mã + ngày gốc.</a:t>
            </a:r>
          </a:p>
          <a:p>
            <a:pPr lvl="0"/>
            <a:r>
              <a:rPr>
                <a:solidFill>
                  <a:srgbClr val="000000"/>
                </a:solidFill>
              </a:rPr>
              <a:t>Ngày mục tiêu chỉ phụ thuộc run + ngày gốc.</a:t>
            </a:r>
          </a:p>
          <a:p>
            <a:pPr lvl="0"/>
            <a:r>
              <a:rPr>
                <a:solidFill>
                  <a:srgbClr val="000000"/>
                </a:solidFill>
              </a:rPr>
              <a:t>ForecastOrigin lưu ánh xạ này một lần.</a:t>
            </a:r>
          </a:p>
          <a:p>
            <a:pPr lvl="0"/>
            <a:r>
              <a:rPr>
                <a:solidFill>
                  <a:srgbClr val="000000"/>
                </a:solidFill>
              </a:rPr>
              <a:t>JOIN qua PK/FK khôi phục đúng ngày, không nhân dự báo.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>
                <a:solidFill>
                  <a:srgbClr val="000000"/>
                </a:solidFill>
              </a:rPr>
              <a:t>Kiểu dữ liệu và toàn vẹn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>
                <a:solidFill>
                  <a:srgbClr val="000000"/>
                </a:solidFill>
              </a:rPr>
              <a:t>DECIMAL cho giá/xác suất; BIGINT cho khối lượng.</a:t>
            </a:r>
          </a:p>
          <a:p>
            <a:pPr lvl="0"/>
            <a:r>
              <a:rPr>
                <a:solidFill>
                  <a:srgbClr val="000000"/>
                </a:solidFill>
              </a:rPr>
              <a:t>PK, FK, UNIQUE, NOT NULL, DEFAULT, CHECK.</a:t>
            </a:r>
          </a:p>
          <a:p>
            <a:pPr lvl="0"/>
            <a:r>
              <a:rPr>
                <a:solidFill>
                  <a:srgbClr val="000000"/>
                </a:solidFill>
              </a:rPr>
              <a:t>Giá dương, High/Low hợp lý, Volume ≥ 0.</a:t>
            </a:r>
          </a:p>
          <a:p>
            <a:pPr lvl="0"/>
            <a:r>
              <a:rPr>
                <a:solidFill>
                  <a:srgbClr val="000000"/>
                </a:solidFill>
              </a:rPr>
              <a:t>Trigger kiểm tra horizon, ngoài mẫu và khoảng hiệu lực.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>
                <a:solidFill>
                  <a:srgbClr val="000000"/>
                </a:solidFill>
              </a:rPr>
              <a:t>Nhập dữ liệu có thể chạy lại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>
                <a:solidFill>
                  <a:srgbClr val="000000"/>
                </a:solidFill>
              </a:rPr>
              <a:t>Kiểm tra hash, ngày, khóa, OHLCV và endpoint.</a:t>
            </a:r>
          </a:p>
          <a:p>
            <a:pPr lvl="0"/>
            <a:r>
              <a:rPr>
                <a:solidFill>
                  <a:srgbClr val="000000"/>
                </a:solidFill>
              </a:rPr>
              <a:t>Batch 200 hàng, transaction và receipt.</a:t>
            </a:r>
          </a:p>
          <a:p>
            <a:pPr lvl="0"/>
            <a:r>
              <a:rPr>
                <a:solidFill>
                  <a:srgbClr val="000000"/>
                </a:solidFill>
              </a:rPr>
              <a:t>Cùng khóa/cùng giá trị: bỏ qua.</a:t>
            </a:r>
          </a:p>
          <a:p>
            <a:pPr lvl="0"/>
            <a:r>
              <a:rPr>
                <a:solidFill>
                  <a:srgbClr val="000000"/>
                </a:solidFill>
              </a:rPr>
              <a:t>Cùng khóa/khác giá trị: lỗi và rollback toàn batch.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>
                <a:solidFill>
                  <a:srgbClr val="000000"/>
                </a:solidFill>
              </a:rPr>
              <a:t>Truy vấn tiêu biểu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>
                <a:solidFill>
                  <a:srgbClr val="000000"/>
                </a:solidFill>
              </a:rPr>
              <a:t>JOIN danh mục và giá; GROUP BY ngành, HAVING độ phủ.</a:t>
            </a:r>
          </a:p>
          <a:p>
            <a:pPr lvl="0"/>
            <a:r>
              <a:rPr>
                <a:solidFill>
                  <a:srgbClr val="000000"/>
                </a:solidFill>
              </a:rPr>
              <a:t>FULL JOIN đối chiếu phạm vi giá/dự báo.</a:t>
            </a:r>
          </a:p>
          <a:p>
            <a:pPr lvl="0"/>
            <a:r>
              <a:rPr>
                <a:solidFill>
                  <a:srgbClr val="000000"/>
                </a:solidFill>
              </a:rPr>
              <a:t>EXCEPT phát hiện mã có giá nhưng chưa có dự báo.</a:t>
            </a:r>
          </a:p>
          <a:p>
            <a:pPr lvl="0"/>
            <a:r>
              <a:rPr>
                <a:solidFill>
                  <a:srgbClr val="000000"/>
                </a:solidFill>
              </a:rPr>
              <a:t>TOP thay đổi Close nguồn; BETWEEN khoảng ngày.</a:t>
            </a:r>
          </a:p>
          <a:p>
            <a:pPr lvl="0"/>
            <a:r>
              <a:rPr>
                <a:solidFill>
                  <a:srgbClr val="000000"/>
                </a:solidFill>
              </a:rPr>
              <a:t>16 truy vấn đã chạy trên cả hai database chính.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>
                <a:solidFill>
                  <a:srgbClr val="000000"/>
                </a:solidFill>
              </a:rPr>
              <a:t>Thủ tục, hàm và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>
                <a:solidFill>
                  <a:srgbClr val="000000"/>
                </a:solidFill>
              </a:rPr>
              <a:t>4 procedures: ghi giá, thêm dự báo, đánh giá, so sánh.</a:t>
            </a:r>
          </a:p>
          <a:p>
            <a:pPr lvl="0"/>
            <a:r>
              <a:rPr>
                <a:solidFill>
                  <a:srgbClr val="000000"/>
                </a:solidFill>
              </a:rPr>
              <a:t>Hàm lợi suất, so chiều và tập dự báo đủ điều kiện.</a:t>
            </a:r>
          </a:p>
          <a:p>
            <a:pPr lvl="0"/>
            <a:r>
              <a:rPr>
                <a:solidFill>
                  <a:srgbClr val="000000"/>
                </a:solidFill>
              </a:rPr>
              <a:t>4 views: giá cuối, phạm vi, snapshot, hiệu quả.</a:t>
            </a:r>
          </a:p>
          <a:p>
            <a:pPr lvl="0"/>
            <a:r>
              <a:rPr>
                <a:solidFill>
                  <a:srgbClr val="000000"/>
                </a:solidFill>
              </a:rPr>
              <a:t>AsOfDate + hai endpoint ngăn chấm nhãn chưa trưởng thành.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>
                <a:solidFill>
                  <a:srgbClr val="000000"/>
                </a:solidFill>
              </a:rPr>
              <a:t>So sánh công bằng trên tập con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9666489"/>
              </p:ext>
            </p:extLst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Chỉ tiêu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38100" cmpd="sng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Baseline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38100" cmpd="sng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Logistic L2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38100" cmpd="sng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Quan sát chung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381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600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381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600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381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Accuracy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0,580000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0,568333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Brier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0,247666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0,252362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Log loss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0,688478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>
                        <a:buNone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0,698052</a:t>
                      </a:r>
                    </a:p>
                  </a:txBody>
                  <a:tcPr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>
                <a:solidFill>
                  <a:srgbClr val="000000"/>
                </a:solidFill>
              </a:rPr>
              <a:t>Kiểm thử thực tế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>
                <a:solidFill>
                  <a:srgbClr val="000000"/>
                </a:solidFill>
              </a:rPr>
              <a:t>44 ca SQL trên 4 database: 176 lượt PASS.</a:t>
            </a:r>
          </a:p>
          <a:p>
            <a:pPr lvl="0"/>
            <a:r>
              <a:rPr>
                <a:solidFill>
                  <a:srgbClr val="000000"/>
                </a:solidFill>
              </a:rPr>
              <a:t>Database mới và migration 12→13 đã được thử lại.</a:t>
            </a:r>
          </a:p>
          <a:p>
            <a:pPr lvl="0"/>
            <a:r>
              <a:rPr>
                <a:solidFill>
                  <a:srgbClr val="000000"/>
                </a:solidFill>
              </a:rPr>
              <a:t>Kiểm tra ràng buộc, lỗi thủ tục, common support, rollback.</a:t>
            </a:r>
          </a:p>
          <a:p>
            <a:pPr lvl="0"/>
            <a:r>
              <a:rPr>
                <a:solidFill>
                  <a:srgbClr val="000000"/>
                </a:solidFill>
              </a:rPr>
              <a:t>STATISTICS IO/TIME có log thực; chưa đo tải lớn.</a:t>
            </a:r>
          </a:p>
          <a:p>
            <a:pPr lvl="0"/>
            <a:r>
              <a:rPr>
                <a:solidFill>
                  <a:srgbClr val="000000"/>
                </a:solidFill>
              </a:rPr>
              <a:t>Engine đã chạy: SQL Server 2025 Developer, chưa có Express riêng.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>
                <a:solidFill>
                  <a:srgbClr val="000000"/>
                </a:solidFill>
              </a:rPr>
              <a:t>Demo trực tiếp: khoảng 4 phút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>
              <a:buAutoNum type="arabicPeriod"/>
            </a:pPr>
            <a:r>
              <a:rPr>
                <a:solidFill>
                  <a:srgbClr val="000000"/>
                </a:solidFill>
              </a:rPr>
              <a:t>Chạy 10_preflight_live.sql, rồi 09_live_demo.sql.</a:t>
            </a:r>
          </a:p>
          <a:p>
            <a:pPr marL="342900" lvl="0" indent="-342900">
              <a:buAutoNum type="arabicPeriod"/>
            </a:pPr>
            <a:r>
              <a:rPr>
                <a:solidFill>
                  <a:srgbClr val="000000"/>
                </a:solidFill>
              </a:rPr>
              <a:t>JOIN/GROUP BY và view giá gần nhất.</a:t>
            </a:r>
          </a:p>
          <a:p>
            <a:pPr marL="342900" lvl="0" indent="-342900">
              <a:buAutoNum type="arabicPeriod"/>
            </a:pPr>
            <a:r>
              <a:rPr>
                <a:solidFill>
                  <a:srgbClr val="000000"/>
                </a:solidFill>
              </a:rPr>
              <a:t>CHECK từ chối volume âm; rollback.</a:t>
            </a:r>
          </a:p>
          <a:p>
            <a:pPr marL="342900" lvl="0" indent="-342900">
              <a:buAutoNum type="arabicPeriod"/>
            </a:pPr>
            <a:r>
              <a:rPr>
                <a:solidFill>
                  <a:srgbClr val="000000"/>
                </a:solidFill>
              </a:rPr>
              <a:t>Gọi CompareModels: 128 quan sát chung/run mô phỏng.</a:t>
            </a:r>
          </a:p>
          <a:p>
            <a:pPr marL="342900" lvl="0" indent="-342900">
              <a:buAutoNum type="arabicPeriod"/>
            </a:pPr>
            <a:r>
              <a:rPr>
                <a:solidFill>
                  <a:srgbClr val="000000"/>
                </a:solidFill>
              </a:rPr>
              <a:t>Xem Volume trước–trong–sau ROLLBACK; hash không đổi.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>
                <a:solidFill>
                  <a:srgbClr val="000000"/>
                </a:solidFill>
              </a:rPr>
              <a:t>Kết quả và giới hạn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>
                <a:solidFill>
                  <a:srgbClr val="000000"/>
                </a:solidFill>
              </a:rPr>
              <a:t>Đủ CSDL, SQL độc lập, pipeline và tài liệu tiếng Việt.</a:t>
            </a:r>
          </a:p>
          <a:p>
            <a:pPr lvl="0"/>
            <a:r>
              <a:rPr>
                <a:solidFill>
                  <a:srgbClr val="000000"/>
                </a:solidFill>
              </a:rPr>
              <a:t>3NF và quy tắc thời gian có bằng chứng kiểm thử.</a:t>
            </a:r>
          </a:p>
          <a:p>
            <a:pPr lvl="0"/>
            <a:r>
              <a:rPr>
                <a:solidFill>
                  <a:srgbClr val="000000"/>
                </a:solidFill>
              </a:rPr>
              <a:t>Ngành/tên công ty chưa có → NULL; adjustment UNKNOWN.</a:t>
            </a:r>
          </a:p>
          <a:p>
            <a:pPr lvl="0"/>
            <a:r>
              <a:rPr>
                <a:solidFill>
                  <a:srgbClr val="000000"/>
                </a:solidFill>
              </a:rPr>
              <a:t>VN30 chỉ là snapshot 06/2026; không có lịch sử đầy đủ.</a:t>
            </a:r>
          </a:p>
          <a:p>
            <a:pPr lvl="0"/>
            <a:r>
              <a:rPr>
                <a:solidFill>
                  <a:srgbClr val="000000"/>
                </a:solidFill>
              </a:rPr>
              <a:t>Dữ liệu thật giữ nội bộ; gói demo chỉ dùng mô phỏng.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923</Words>
  <Application>Microsoft Office PowerPoint</Application>
  <PresentationFormat>On-screen Show (16:9)</PresentationFormat>
  <Paragraphs>94</Paragraphs>
  <Slides>14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MarketLab VN30</vt:lpstr>
      <vt:lpstr>Bài toán và mục tiêu</vt:lpstr>
      <vt:lpstr>Phạm vi và dữ liệu</vt:lpstr>
      <vt:lpstr>Chức năng hệ thống</vt:lpstr>
      <vt:lpstr>ERD: 13 bảng liên kết</vt:lpstr>
      <vt:lpstr>Vì sao tách ForecastOrigin?</vt:lpstr>
      <vt:lpstr>Kiểu dữ liệu và toàn vẹn</vt:lpstr>
      <vt:lpstr>Nhập dữ liệu có thể chạy lại</vt:lpstr>
      <vt:lpstr>Truy vấn tiêu biểu</vt:lpstr>
      <vt:lpstr>Thủ tục, hàm và view</vt:lpstr>
      <vt:lpstr>So sánh công bằng trên tập con</vt:lpstr>
      <vt:lpstr>Kiểm thử thực tế</vt:lpstr>
      <vt:lpstr>Demo trực tiếp: khoảng 4 phút</vt:lpstr>
      <vt:lpstr>Kết quả và giới hạn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MarketLab VN30</dc:title>
  <dc:creator/>
  <cp:keywords/>
  <cp:lastModifiedBy>Luong Minh Quan D24KD02</cp:lastModifiedBy>
  <cp:revision>1</cp:revision>
  <dcterms:created xsi:type="dcterms:W3CDTF">2026-10-27T13:38:59Z</dcterms:created>
  <dcterms:modified xsi:type="dcterms:W3CDTF">2026-10-27T13:39:04Z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27/10/2026 · Thuyết trình 13–14 phút</vt:lpwstr>
  </property>
  <property fmtid="{D5CDD505-2E9C-101B-9397-08002B2CF9AE}" pid="3" name="subtitle">
    <vt:lpwstr>Bài tập lớn Hệ quản trị cơ sở dữ liệu</vt:lpwstr>
  </property>
</Properties>
</file>